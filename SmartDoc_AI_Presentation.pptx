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914400"/>
            <a:ext cx="1097280" cy="1463040"/>
          </a:xfrm>
          <a:prstGeom prst="rect">
            <a:avLst/>
          </a:prstGeom>
          <a:solidFill>
            <a:srgbClr val="2E75B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1143000"/>
            <a:ext cx="7315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40080" y="1325880"/>
            <a:ext cx="73152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40080" y="1508760"/>
            <a:ext cx="457200" cy="731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40080" y="1691640"/>
            <a:ext cx="548640" cy="7315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828800" y="82296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SmartDoc AI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828800" y="173736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Intelligent Research Paper Analysis 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828800" y="2331720"/>
            <a:ext cx="64008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828800" y="246888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Islem Ben ameur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554475" y="3032335"/>
            <a:ext cx="1645800" cy="822900"/>
          </a:xfrm>
          <a:prstGeom prst="rect">
            <a:avLst/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554475" y="3078055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554475" y="3352375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arXiv — Cornell Univ.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383275" y="3032335"/>
            <a:ext cx="1645800" cy="822900"/>
          </a:xfrm>
          <a:prstGeom prst="rect">
            <a:avLst/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3383275" y="3078055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Papers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383275" y="3352375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5,000 sampled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212075" y="3032335"/>
            <a:ext cx="1645800" cy="822900"/>
          </a:xfrm>
          <a:prstGeom prst="rect">
            <a:avLst/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212075" y="3078055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212075" y="3352375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compared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7040875" y="3032335"/>
            <a:ext cx="1645800" cy="822900"/>
          </a:xfrm>
          <a:prstGeom prst="rect">
            <a:avLst/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040875" y="3078055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040875" y="3352375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· FAISS · Groq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828800" y="438912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ML Project · Academic Year 202</a:t>
            </a: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–202</a:t>
            </a: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412480" y="9144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74320" y="1051560"/>
            <a:ext cx="8595360" cy="777240"/>
          </a:xfrm>
          <a:prstGeom prst="rect">
            <a:avLst/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Researchers and students spend hours manually reading lengthy scientific papers just to extract key insights, identify authors, find related work, or answer specific 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74345" y="1918973"/>
            <a:ext cx="8595300" cy="777300"/>
          </a:xfrm>
          <a:prstGeom prst="rect">
            <a:avLst/>
          </a:prstGeom>
          <a:solidFill>
            <a:srgbClr val="1A2B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65785" y="1964693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SmartDoc AI is an intelligent chatbot that lets users upload any research paper (PDF or TXT) and instantly interact with it through natural language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4"/>
          <p:cNvGrpSpPr/>
          <p:nvPr/>
        </p:nvGrpSpPr>
        <p:grpSpPr>
          <a:xfrm>
            <a:off x="274325" y="2899517"/>
            <a:ext cx="2014617" cy="1853946"/>
            <a:chOff x="274320" y="1965960"/>
            <a:chExt cx="2011800" cy="2286000"/>
          </a:xfrm>
        </p:grpSpPr>
        <p:sp>
          <p:nvSpPr>
            <p:cNvPr id="53" name="Google Shape;53;p4"/>
            <p:cNvSpPr/>
            <p:nvPr/>
          </p:nvSpPr>
          <p:spPr>
            <a:xfrm>
              <a:off x="274320" y="1965960"/>
              <a:ext cx="2011800" cy="2286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746" rotWithShape="0" algn="bl" dir="8100000" dist="38155">
                <a:srgbClr val="000000">
                  <a:alpha val="12160"/>
                </a:srgbClr>
              </a:outerShdw>
            </a:effectLst>
          </p:spPr>
          <p:txBody>
            <a:bodyPr anchorCtr="0" anchor="ctr" bIns="91550" lIns="91550" spcFirstLastPara="1" rIns="91550" wrap="square" tIns="91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274320" y="1965960"/>
              <a:ext cx="2011800" cy="25590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txBody>
            <a:bodyPr anchorCtr="0" anchor="ctr" bIns="91550" lIns="91550" spcFirstLastPara="1" rIns="91550" wrap="square" tIns="91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274320" y="1965960"/>
              <a:ext cx="20118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91550" spcFirstLastPara="1" rIns="91550" wrap="square" tIns="4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2"/>
                <a:buFont typeface="Calibri"/>
                <a:buNone/>
              </a:pPr>
              <a:r>
                <a:rPr b="1" i="0" lang="en-US" sz="1102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Classification</a:t>
              </a:r>
              <a:endParaRPr b="0" i="0" sz="110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1005840" y="2331720"/>
              <a:ext cx="548700" cy="548700"/>
            </a:xfrm>
            <a:prstGeom prst="ellipse">
              <a:avLst/>
            </a:prstGeom>
            <a:solidFill>
              <a:srgbClr val="2E75B6">
                <a:alpha val="20000"/>
              </a:srgbClr>
            </a:solidFill>
            <a:ln>
              <a:noFill/>
            </a:ln>
          </p:spPr>
          <p:txBody>
            <a:bodyPr anchorCtr="0" anchor="ctr" bIns="91550" lIns="91550" spcFirstLastPara="1" rIns="91550" wrap="square" tIns="91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1005840" y="2331720"/>
              <a:ext cx="5487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91550" spcFirstLastPara="1" rIns="91550" wrap="square" tIns="4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E75B6"/>
                </a:buClr>
                <a:buSzPts val="1803"/>
                <a:buFont typeface="Calibri"/>
                <a:buNone/>
              </a:pPr>
              <a:r>
                <a:rPr b="1" i="0" lang="en-US" sz="1803" u="none" cap="none" strike="noStrike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Aa</a:t>
              </a:r>
              <a:endParaRPr b="0" i="0" sz="180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365760" y="3017520"/>
              <a:ext cx="18288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91550" spcFirstLastPara="1" rIns="91550" wrap="square" tIns="4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001"/>
                <a:buFont typeface="Calibri"/>
                <a:buNone/>
              </a:pPr>
              <a:r>
                <a:rPr b="0" i="0" lang="en-US" sz="1001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Identify scientific domain automatically</a:t>
              </a:r>
              <a:endParaRPr b="0" i="0" sz="100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365760" y="3977640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75" lIns="91550" spcFirstLastPara="1" rIns="91550" wrap="square" tIns="4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E75B6"/>
                </a:buClr>
                <a:buSzPts val="901"/>
                <a:buFont typeface="Calibri"/>
                <a:buNone/>
              </a:pPr>
              <a:r>
                <a:rPr b="1" i="0" lang="en-US" sz="901" u="none" cap="none" strike="noStrike">
                  <a:solidFill>
                    <a:srgbClr val="2E75B6"/>
                  </a:solidFill>
                  <a:latin typeface="Calibri"/>
                  <a:ea typeface="Calibri"/>
                  <a:cs typeface="Calibri"/>
                  <a:sym typeface="Calibri"/>
                </a:rPr>
                <a:t>TF-IDF</a:t>
              </a:r>
              <a:endParaRPr b="0" i="0" sz="90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4"/>
          <p:cNvSpPr/>
          <p:nvPr/>
        </p:nvSpPr>
        <p:spPr>
          <a:xfrm>
            <a:off x="2453751" y="2899843"/>
            <a:ext cx="2014800" cy="185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746" rotWithShape="0" algn="bl" dir="8100000" dist="38155">
              <a:srgbClr val="000000">
                <a:alpha val="12160"/>
              </a:srgbClr>
            </a:outerShdw>
          </a:effectLst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453751" y="2899843"/>
            <a:ext cx="2014800" cy="207600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2453751" y="2899843"/>
            <a:ext cx="2014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Calibri"/>
              <a:buNone/>
            </a:pPr>
            <a:r>
              <a:rPr b="1" i="0" lang="en-US" sz="11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Summarization</a:t>
            </a:r>
            <a:endParaRPr b="0" i="0" sz="11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186326" y="3196535"/>
            <a:ext cx="549300" cy="444900"/>
          </a:xfrm>
          <a:prstGeom prst="ellipse">
            <a:avLst/>
          </a:prstGeom>
          <a:solidFill>
            <a:srgbClr val="1E7145">
              <a:alpha val="20000"/>
            </a:srgbClr>
          </a:solidFill>
          <a:ln>
            <a:noFill/>
          </a:ln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186326" y="3196535"/>
            <a:ext cx="54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145"/>
              </a:buClr>
              <a:buSzPts val="1803"/>
              <a:buFont typeface="Calibri"/>
              <a:buNone/>
            </a:pPr>
            <a:r>
              <a:rPr b="1" i="0" lang="en-US" sz="1803" u="none" cap="none" strike="noStrike">
                <a:solidFill>
                  <a:srgbClr val="1E7145"/>
                </a:solidFill>
                <a:latin typeface="Calibri"/>
                <a:ea typeface="Calibri"/>
                <a:cs typeface="Calibri"/>
                <a:sym typeface="Calibri"/>
              </a:rPr>
              <a:t>Σ</a:t>
            </a:r>
            <a:endParaRPr b="0" i="0" sz="18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545323" y="3752832"/>
            <a:ext cx="1831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1"/>
              <a:buFont typeface="Calibri"/>
              <a:buNone/>
            </a:pPr>
            <a:r>
              <a:rPr b="0" i="0" lang="en-US" sz="1001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Generate concise extractive summaries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545323" y="4531649"/>
            <a:ext cx="1831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145"/>
              </a:buClr>
              <a:buSzPts val="901"/>
              <a:buFont typeface="Calibri"/>
              <a:buNone/>
            </a:pPr>
            <a:r>
              <a:rPr b="1" i="0" lang="en-US" sz="901" u="none" cap="none" strike="noStrike">
                <a:solidFill>
                  <a:srgbClr val="1E7145"/>
                </a:solidFill>
                <a:latin typeface="Calibri"/>
                <a:ea typeface="Calibri"/>
                <a:cs typeface="Calibri"/>
                <a:sym typeface="Calibri"/>
              </a:rPr>
              <a:t>spaCy</a:t>
            </a:r>
            <a:endParaRPr b="0" i="0" sz="9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633164" y="2899843"/>
            <a:ext cx="2014800" cy="185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746" rotWithShape="0" algn="bl" dir="8100000" dist="38155">
              <a:srgbClr val="000000">
                <a:alpha val="12160"/>
              </a:srgbClr>
            </a:outerShdw>
          </a:effectLst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633164" y="2899843"/>
            <a:ext cx="2014800" cy="207600"/>
          </a:xfrm>
          <a:prstGeom prst="rect">
            <a:avLst/>
          </a:prstGeom>
          <a:solidFill>
            <a:srgbClr val="4B3F8D"/>
          </a:solidFill>
          <a:ln>
            <a:noFill/>
          </a:ln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633164" y="2899843"/>
            <a:ext cx="2014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Calibri"/>
              <a:buNone/>
            </a:pPr>
            <a:r>
              <a:rPr b="1" i="0" lang="en-US" sz="11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NER Extraction</a:t>
            </a:r>
            <a:endParaRPr b="0" i="0" sz="11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65740" y="3196535"/>
            <a:ext cx="549300" cy="444900"/>
          </a:xfrm>
          <a:prstGeom prst="ellipse">
            <a:avLst/>
          </a:prstGeom>
          <a:solidFill>
            <a:srgbClr val="4B3F8D">
              <a:alpha val="20000"/>
            </a:srgbClr>
          </a:solidFill>
          <a:ln>
            <a:noFill/>
          </a:ln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365740" y="3196535"/>
            <a:ext cx="54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F8D"/>
              </a:buClr>
              <a:buSzPts val="1803"/>
              <a:buFont typeface="Calibri"/>
              <a:buNone/>
            </a:pPr>
            <a:r>
              <a:rPr b="1" i="0" lang="en-US" sz="1803" u="none" cap="none" strike="noStrike">
                <a:solidFill>
                  <a:srgbClr val="4B3F8D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endParaRPr b="0" i="0" sz="18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724736" y="3752832"/>
            <a:ext cx="1831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1"/>
              <a:buFont typeface="Calibri"/>
              <a:buNone/>
            </a:pPr>
            <a:r>
              <a:rPr b="0" i="0" lang="en-US" sz="1001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Extract authors, orgs, key entities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724736" y="4531649"/>
            <a:ext cx="1831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F8D"/>
              </a:buClr>
              <a:buSzPts val="901"/>
              <a:buFont typeface="Calibri"/>
              <a:buNone/>
            </a:pPr>
            <a:r>
              <a:rPr b="1" i="0" lang="en-US" sz="901" u="none" cap="none" strike="noStrike">
                <a:solidFill>
                  <a:srgbClr val="4B3F8D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9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812577" y="2899843"/>
            <a:ext cx="2014800" cy="185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746" rotWithShape="0" algn="bl" dir="8100000" dist="38155">
              <a:srgbClr val="000000">
                <a:alpha val="12160"/>
              </a:srgbClr>
            </a:outerShdw>
          </a:effectLst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812577" y="2899843"/>
            <a:ext cx="2014800" cy="207600"/>
          </a:xfrm>
          <a:prstGeom prst="rect">
            <a:avLst/>
          </a:prstGeom>
          <a:solidFill>
            <a:srgbClr val="E08C00"/>
          </a:solidFill>
          <a:ln>
            <a:noFill/>
          </a:ln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812577" y="2899843"/>
            <a:ext cx="2014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2"/>
              <a:buFont typeface="Calibri"/>
              <a:buNone/>
            </a:pPr>
            <a:r>
              <a:rPr b="1" i="0" lang="en-US" sz="110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RAG</a:t>
            </a:r>
            <a:endParaRPr b="0" i="0" sz="11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545153" y="3196535"/>
            <a:ext cx="549300" cy="444900"/>
          </a:xfrm>
          <a:prstGeom prst="ellipse">
            <a:avLst/>
          </a:prstGeom>
          <a:solidFill>
            <a:srgbClr val="E08C00">
              <a:alpha val="20000"/>
            </a:srgbClr>
          </a:solidFill>
          <a:ln>
            <a:noFill/>
          </a:ln>
        </p:spPr>
        <p:txBody>
          <a:bodyPr anchorCtr="0" anchor="ctr" bIns="91550" lIns="91550" spcFirstLastPara="1" rIns="91550" wrap="square" tIns="91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7545153" y="3196535"/>
            <a:ext cx="54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8C00"/>
              </a:buClr>
              <a:buSzPts val="1803"/>
              <a:buFont typeface="Calibri"/>
              <a:buNone/>
            </a:pPr>
            <a:r>
              <a:rPr b="1" i="0" lang="en-US" sz="1803" u="none" cap="none" strike="noStrike">
                <a:solidFill>
                  <a:srgbClr val="E08C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6904149" y="3752832"/>
            <a:ext cx="18318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1"/>
              <a:buFont typeface="Calibri"/>
              <a:buNone/>
            </a:pPr>
            <a:r>
              <a:rPr b="0" i="0" lang="en-US" sz="1001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Find relevant papers by meaning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904149" y="4531649"/>
            <a:ext cx="18318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75" lIns="91550" spcFirstLastPara="1" rIns="91550" wrap="square" tIns="45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8C00"/>
              </a:buClr>
              <a:buSzPts val="901"/>
              <a:buFont typeface="Calibri"/>
              <a:buNone/>
            </a:pPr>
            <a:r>
              <a:rPr b="1" i="0" lang="en-US" sz="901" u="none" cap="none" strike="noStrike">
                <a:solidFill>
                  <a:srgbClr val="E08C00"/>
                </a:solidFill>
                <a:latin typeface="Calibri"/>
                <a:ea typeface="Calibri"/>
                <a:cs typeface="Calibri"/>
                <a:sym typeface="Calibri"/>
              </a:rPr>
              <a:t>Groq</a:t>
            </a:r>
            <a:endParaRPr b="0" i="0" sz="9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57200" y="914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Selection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412480" y="9144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Datasets Rejected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74320" y="150876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274320" y="1508760"/>
            <a:ext cx="731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457200" y="15270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Financial Docs Clustering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17830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HTML format — Low votes — Outdated 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74320" y="219456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274320" y="2194560"/>
            <a:ext cx="731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57200" y="22128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 EDGAR Reports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13.4 GB — Too large for 8GB RAM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274320" y="288036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274320" y="2880360"/>
            <a:ext cx="73152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57200" y="28986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HuggingFace Financial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31546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Sentiment only — Not document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Dataset Selected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754880" y="1463040"/>
            <a:ext cx="41148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754880" y="14630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arXiv — Cornell University (Kaggle)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892040" y="1965960"/>
            <a:ext cx="320040" cy="320040"/>
          </a:xfrm>
          <a:prstGeom prst="ellipse">
            <a:avLst/>
          </a:prstGeom>
          <a:solidFill>
            <a:srgbClr val="1E714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892040" y="19659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1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14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303520" y="19202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1.7M papers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303520" y="213055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Official source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892040" y="2441448"/>
            <a:ext cx="320040" cy="320040"/>
          </a:xfrm>
          <a:prstGeom prst="ellipse">
            <a:avLst/>
          </a:prstGeom>
          <a:solidFill>
            <a:srgbClr val="1E714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892040" y="244144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1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14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303520" y="23957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5,000 sampled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303520" y="260604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CPU compatible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892040" y="2916936"/>
            <a:ext cx="320040" cy="320040"/>
          </a:xfrm>
          <a:prstGeom prst="ellipse">
            <a:avLst/>
          </a:prstGeom>
          <a:solidFill>
            <a:srgbClr val="1E714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892040" y="291693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1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14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303520" y="287121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Thousands of votes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303520" y="308152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Highly credible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892040" y="3392424"/>
            <a:ext cx="320040" cy="320040"/>
          </a:xfrm>
          <a:prstGeom prst="ellipse">
            <a:avLst/>
          </a:prstGeom>
          <a:solidFill>
            <a:srgbClr val="1E714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4892040" y="33924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1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14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303520" y="334670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Abstract =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303520" y="3557016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ROUGE ground truth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B3F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57200" y="914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 &amp; Feature Engineering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412480" y="9144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6"/>
          <p:cNvGrpSpPr/>
          <p:nvPr/>
        </p:nvGrpSpPr>
        <p:grpSpPr>
          <a:xfrm>
            <a:off x="274320" y="1005840"/>
            <a:ext cx="4114800" cy="3154680"/>
            <a:chOff x="274320" y="1005840"/>
            <a:chExt cx="4114800" cy="3154680"/>
          </a:xfrm>
        </p:grpSpPr>
        <p:sp>
          <p:nvSpPr>
            <p:cNvPr id="133" name="Google Shape;133;p6"/>
            <p:cNvSpPr/>
            <p:nvPr/>
          </p:nvSpPr>
          <p:spPr>
            <a:xfrm>
              <a:off x="274320" y="1005840"/>
              <a:ext cx="4114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B3F8D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4B3F8D"/>
                  </a:solidFill>
                  <a:latin typeface="Calibri"/>
                  <a:ea typeface="Calibri"/>
                  <a:cs typeface="Calibri"/>
                  <a:sym typeface="Calibri"/>
                </a:rPr>
                <a:t>Why we clean the text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274320" y="1417320"/>
              <a:ext cx="457200" cy="347472"/>
            </a:xfrm>
            <a:prstGeom prst="rect">
              <a:avLst/>
            </a:prstGeom>
            <a:solidFill>
              <a:srgbClr val="4B3F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274320" y="1417320"/>
              <a:ext cx="45720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822960" y="1426464"/>
              <a:ext cx="1371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Lowercase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822960" y="1600200"/>
              <a:ext cx="3383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Normalize all text for consistency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274320" y="1892808"/>
              <a:ext cx="457200" cy="347472"/>
            </a:xfrm>
            <a:prstGeom prst="rect">
              <a:avLst/>
            </a:prstGeom>
            <a:solidFill>
              <a:srgbClr val="4B3F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274320" y="1892808"/>
              <a:ext cx="45720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822960" y="1901952"/>
              <a:ext cx="1371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LaTeX removal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822960" y="2075688"/>
              <a:ext cx="3383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$\\alpha$ → noise for NLP models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74320" y="2368296"/>
              <a:ext cx="457200" cy="347472"/>
            </a:xfrm>
            <a:prstGeom prst="rect">
              <a:avLst/>
            </a:prstGeom>
            <a:solidFill>
              <a:srgbClr val="4B3F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274320" y="2368296"/>
              <a:ext cx="45720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822960" y="2377440"/>
              <a:ext cx="1371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Special chars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822960" y="2551176"/>
              <a:ext cx="3383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Remove punctuation, numbers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274320" y="2843784"/>
              <a:ext cx="457200" cy="347472"/>
            </a:xfrm>
            <a:prstGeom prst="rect">
              <a:avLst/>
            </a:prstGeom>
            <a:solidFill>
              <a:srgbClr val="4B3F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274320" y="2843784"/>
              <a:ext cx="45720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822960" y="2852928"/>
              <a:ext cx="1371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Tokenization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822960" y="3026664"/>
              <a:ext cx="3383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Split text into words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274320" y="3319272"/>
              <a:ext cx="457200" cy="347472"/>
            </a:xfrm>
            <a:prstGeom prst="rect">
              <a:avLst/>
            </a:prstGeom>
            <a:solidFill>
              <a:srgbClr val="4B3F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274320" y="3319272"/>
              <a:ext cx="45720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822960" y="3328416"/>
              <a:ext cx="1371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Stopwords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822960" y="3502152"/>
              <a:ext cx="3383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Remove 'the', 'a', 'and'...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274320" y="3794760"/>
              <a:ext cx="457200" cy="347472"/>
            </a:xfrm>
            <a:prstGeom prst="rect">
              <a:avLst/>
            </a:prstGeom>
            <a:solidFill>
              <a:srgbClr val="4B3F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274320" y="3794760"/>
              <a:ext cx="45720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822960" y="3803904"/>
              <a:ext cx="1371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A1A2E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1A1A2E"/>
                  </a:solidFill>
                  <a:latin typeface="Calibri"/>
                  <a:ea typeface="Calibri"/>
                  <a:cs typeface="Calibri"/>
                  <a:sym typeface="Calibri"/>
                </a:rPr>
                <a:t>Lemmatization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822960" y="3977640"/>
              <a:ext cx="3383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900"/>
                <a:buFont typeface="Calibri"/>
                <a:buNone/>
              </a:pPr>
              <a:r>
                <a:rPr b="0" i="0" lang="en-US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'running'→'run', 'better'→'good'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6"/>
          <p:cNvSpPr/>
          <p:nvPr/>
        </p:nvSpPr>
        <p:spPr>
          <a:xfrm>
            <a:off x="274320" y="4434840"/>
            <a:ext cx="4114800" cy="365760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+17% accuracy vs raw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F8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B3F8D"/>
                </a:solidFill>
                <a:latin typeface="Calibri"/>
                <a:ea typeface="Calibri"/>
                <a:cs typeface="Calibri"/>
                <a:sym typeface="Calibri"/>
              </a:rPr>
              <a:t>22 Engineered Features (novelty)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754880" y="1463040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754880" y="1463040"/>
            <a:ext cx="4114800" cy="2560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754880" y="14630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892040" y="175564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nb_words · nb_sentences · lexical_diversity · avg_word_length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754880" y="2377440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754880" y="2377440"/>
            <a:ext cx="4114800" cy="256032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754880" y="23774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892040" y="267004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has_method · has_results · has_dataset · has_deep · has_limitation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754880" y="3291840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754880" y="3291840"/>
            <a:ext cx="4114800" cy="256032"/>
          </a:xfrm>
          <a:prstGeom prst="rect">
            <a:avLst/>
          </a:prstGeom>
          <a:solidFill>
            <a:srgbClr val="E08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754880" y="329184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Metadata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892040" y="358444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nb_authors · nb_categories · decade · is_recent · title_length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754880" y="4434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Impact: Minimal on F1 but adds rich metadata for chatbot &amp; EDA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57200" y="914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412480" y="9144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274320" y="1051560"/>
            <a:ext cx="228600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274320" y="10515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2560320" y="1051560"/>
            <a:ext cx="137160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2560320" y="10515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931920" y="1051560"/>
            <a:ext cx="137160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931920" y="10515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F1-weighted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303520" y="1051560"/>
            <a:ext cx="137160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5303520" y="10515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CV F1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675120" y="1051560"/>
            <a:ext cx="1371600" cy="347472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675120" y="10515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74320" y="150876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274320" y="1508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Naive Bayes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560320" y="150876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256032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0.78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931920" y="150876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393192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0.77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303520" y="150876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30352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0.76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675120" y="150876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6675120" y="15087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&lt; 1s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74320" y="2039112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74320" y="203911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560320" y="2039112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2560320" y="203911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0.85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931920" y="2039112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3931920" y="203911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0.84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303520" y="2039112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303520" y="203911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0.83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675120" y="2039112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675120" y="203911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~5s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74320" y="2569464"/>
            <a:ext cx="2286000" cy="45720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274320" y="2569464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Linear SVM 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560320" y="2569464"/>
            <a:ext cx="1371600" cy="45720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2560320" y="256946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0.88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931920" y="2569464"/>
            <a:ext cx="1371600" cy="45720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3931920" y="256946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0.87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303520" y="2569464"/>
            <a:ext cx="1371600" cy="45720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303520" y="256946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0.86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675120" y="2569464"/>
            <a:ext cx="1371600" cy="457200"/>
          </a:xfrm>
          <a:prstGeom prst="rect">
            <a:avLst/>
          </a:prstGeom>
          <a:solidFill>
            <a:srgbClr val="E8F4F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675120" y="256946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~8s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274320" y="2569464"/>
            <a:ext cx="54864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274320" y="3099816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274320" y="3099816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2560320" y="3099816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2560320" y="309981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0.82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3931920" y="3099816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931920" y="309981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303520" y="3099816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303520" y="309981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675120" y="3099816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6675120" y="3099816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~45s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3657600"/>
            <a:ext cx="85953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Why Linear SVM?  Best F1 on sparse TF-IDF — consistent with NLP literature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08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457200" y="9144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NLP Tasks &amp;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8412480" y="91440"/>
            <a:ext cx="548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274320" y="1051560"/>
            <a:ext cx="41605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274320" y="1051560"/>
            <a:ext cx="4160520" cy="292608"/>
          </a:xfrm>
          <a:prstGeom prst="rect">
            <a:avLst/>
          </a:prstGeom>
          <a:solidFill>
            <a:srgbClr val="4B3F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274320" y="105156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Named Entity Recognition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65760" y="1389888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F8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B3F8D"/>
                </a:solidFill>
                <a:latin typeface="Calibri"/>
                <a:ea typeface="Calibri"/>
                <a:cs typeface="Calibri"/>
                <a:sym typeface="Calibri"/>
              </a:rPr>
              <a:t>spaCy — en_core_web_sm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65760" y="1645920"/>
            <a:ext cx="109728" cy="109728"/>
          </a:xfrm>
          <a:prstGeom prst="rect">
            <a:avLst/>
          </a:prstGeom>
          <a:solidFill>
            <a:srgbClr val="4B3F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48640" y="161848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Organizations detected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65760" y="1901952"/>
            <a:ext cx="109728" cy="109728"/>
          </a:xfrm>
          <a:prstGeom prst="rect">
            <a:avLst/>
          </a:prstGeom>
          <a:solidFill>
            <a:srgbClr val="4B3F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48640" y="187452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Persons &amp; authors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65760" y="2157984"/>
            <a:ext cx="109728" cy="109728"/>
          </a:xfrm>
          <a:prstGeom prst="rect">
            <a:avLst/>
          </a:prstGeom>
          <a:solidFill>
            <a:srgbClr val="4B3F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48640" y="2130552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Locations &amp; countries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65760" y="2414016"/>
            <a:ext cx="109728" cy="109728"/>
          </a:xfrm>
          <a:prstGeom prst="rect">
            <a:avLst/>
          </a:prstGeom>
          <a:solidFill>
            <a:srgbClr val="4B3F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548640" y="2386584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~8 entities per paper avg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4709160" y="1051560"/>
            <a:ext cx="41605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709160" y="1051560"/>
            <a:ext cx="4160520" cy="292608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4709160" y="105156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Extractive Summarization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800600" y="1389888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14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7145"/>
                </a:solidFill>
                <a:latin typeface="Calibri"/>
                <a:ea typeface="Calibri"/>
                <a:cs typeface="Calibri"/>
                <a:sym typeface="Calibri"/>
              </a:rPr>
              <a:t>TF-IDF sentence scoring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800600" y="1645920"/>
            <a:ext cx="109728" cy="109728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983480" y="161848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ROUGE-1 : 0.52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800600" y="1901952"/>
            <a:ext cx="109728" cy="109728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4983480" y="187452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ROUGE-2 : 0.31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800600" y="2157984"/>
            <a:ext cx="109728" cy="109728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4983480" y="2130552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ROUGE-L : 0.42 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800600" y="2414016"/>
            <a:ext cx="109728" cy="109728"/>
          </a:xfrm>
          <a:prstGeom prst="rect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4983480" y="2386584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~40% compression ratio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74320" y="3017520"/>
            <a:ext cx="41605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274320" y="3017520"/>
            <a:ext cx="416052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274320" y="301752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Search (FAISS)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65760" y="3355848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all-MiniLM-L6-v2 + FAISS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65760" y="3611880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48640" y="358444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1,000 papers indexed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65760" y="3867912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548640" y="384048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384-dim embeddings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65760" y="4123944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548640" y="4096512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&lt; 0.1s per 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65760" y="4379976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548640" y="4352544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Cosine similarity &gt; 0.75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709160" y="3017520"/>
            <a:ext cx="416052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709160" y="3017520"/>
            <a:ext cx="4160520" cy="292608"/>
          </a:xfrm>
          <a:prstGeom prst="rect">
            <a:avLst/>
          </a:prstGeom>
          <a:solidFill>
            <a:srgbClr val="E08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709160" y="301752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Chatbot (Groq)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800600" y="3355848"/>
            <a:ext cx="3977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C0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08C00"/>
                </a:solidFill>
                <a:latin typeface="Calibri"/>
                <a:ea typeface="Calibri"/>
                <a:cs typeface="Calibri"/>
                <a:sym typeface="Calibri"/>
              </a:rPr>
              <a:t>llama-3.3-70b-versatile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800600" y="3611880"/>
            <a:ext cx="109728" cy="109728"/>
          </a:xfrm>
          <a:prstGeom prst="rect">
            <a:avLst/>
          </a:prstGeom>
          <a:solidFill>
            <a:srgbClr val="E08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4983480" y="358444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Deep Q&amp;A on any paper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800600" y="3867912"/>
            <a:ext cx="109728" cy="109728"/>
          </a:xfrm>
          <a:prstGeom prst="rect">
            <a:avLst/>
          </a:prstGeom>
          <a:solidFill>
            <a:srgbClr val="E08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4983480" y="384048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&lt; 2s response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800600" y="4123944"/>
            <a:ext cx="109728" cy="109728"/>
          </a:xfrm>
          <a:prstGeom prst="rect">
            <a:avLst/>
          </a:prstGeom>
          <a:solidFill>
            <a:srgbClr val="E08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4983480" y="4096512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Context-grounded answers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800600" y="4379976"/>
            <a:ext cx="109728" cy="109728"/>
          </a:xfrm>
          <a:prstGeom prst="rect">
            <a:avLst/>
          </a:prstGeom>
          <a:solidFill>
            <a:srgbClr val="E08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4983480" y="4352544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hallucination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Perspectives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57200" y="1005840"/>
            <a:ext cx="7315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What We Achieved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457200" y="1572768"/>
            <a:ext cx="228600" cy="228600"/>
          </a:xfrm>
          <a:prstGeom prst="ellipse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457200" y="15727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777240" y="15544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End-to-end NLP pipeline on 5,000 arXiv papers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457200" y="2048256"/>
            <a:ext cx="228600" cy="228600"/>
          </a:xfrm>
          <a:prstGeom prst="ellipse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457200" y="204825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777240" y="202996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4 models compared — Linear SVM best (F1=0.87)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57200" y="2523744"/>
            <a:ext cx="228600" cy="228600"/>
          </a:xfrm>
          <a:prstGeom prst="ellipse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457200" y="252374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77240" y="2505456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Extractive summarization — ROUGE-L = 0.42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57200" y="2999232"/>
            <a:ext cx="228600" cy="228600"/>
          </a:xfrm>
          <a:prstGeom prst="ellipse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457200" y="299923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77240" y="298094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FAISS semantic search — 1,000 papers indexed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57200" y="3474720"/>
            <a:ext cx="228600" cy="228600"/>
          </a:xfrm>
          <a:prstGeom prst="ellipse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457200" y="347472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777240" y="345643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spaCy NER — ~8 entities per paper extracted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57200" y="3950208"/>
            <a:ext cx="228600" cy="228600"/>
          </a:xfrm>
          <a:prstGeom prst="ellipse">
            <a:avLst/>
          </a:prstGeom>
          <a:solidFill>
            <a:srgbClr val="1E71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457200" y="39502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777240" y="393192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Streamlit RAG chatbot powered by Groq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Future Perspectives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846320" y="1572768"/>
            <a:ext cx="228600" cy="228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4846320" y="157276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166360" y="15544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Fine-tune SciBERT on arXiv categories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846320" y="2075688"/>
            <a:ext cx="228600" cy="228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846320" y="207568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166360" y="20574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Add PDF full-text parsing (not just abstract)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846320" y="2578608"/>
            <a:ext cx="228600" cy="228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846320" y="25786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5166360" y="2560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Scale FAISS index to 100K+ papers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846320" y="3081528"/>
            <a:ext cx="228600" cy="228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4846320" y="308152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166360" y="3063240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Add multilingual support (FR, AR)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D6E4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